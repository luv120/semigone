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474720" cy="320040"/>
          </a:xfrm>
          <a:prstGeom prst="roundRect">
            <a:avLst>
              <a:gd name="adj" fmla="val 1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A0F1A"/>
                </a:solidFill>
                <a:latin typeface="Segoe UI"/>
              </a:defRPr>
            </a:pPr>
            <a:r>
              <a:t>SEMICON INDIA HACKATHON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AI-Based Restoration of Degraded</a:t>
            </a:r>
            <a:br/>
            <a:r>
              <a:t>Images for Semiconductor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27432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02920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1">
                <a:solidFill>
                  <a:srgbClr val="00E676"/>
                </a:solidFill>
                <a:latin typeface="Segoe UI"/>
              </a:defRPr>
            </a:pPr>
            <a:r>
              <a:t>TEAM DETAILS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59"/>
              </a:spcAft>
              <a:defRPr sz="1400" b="0">
                <a:solidFill>
                  <a:srgbClr val="B0BCD0"/>
                </a:solidFill>
                <a:latin typeface="Segoe UI"/>
              </a:defRPr>
            </a:pPr>
            <a:r>
              <a:t>Team Name:       &lt;Your Team Name&gt;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Member 1:         &lt;Name&gt; — ML Engineer (Lead)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Member 2:         &lt;Name&gt; — Data &amp; Feature Engineering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Member 3:         &lt;Name&gt; — Frontend / Demo &amp; Eval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Member 4:         &lt;Name&gt; — Classical Baselines &amp; QC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19"/>
              </a:spcAft>
              <a:defRPr sz="1300" b="0">
                <a:solidFill>
                  <a:srgbClr val="B0BCD0"/>
                </a:solidFill>
                <a:latin typeface="Segoe UI"/>
              </a:defRPr>
            </a:pPr>
            <a:r>
              <a:t>College:            &lt;Your College Name&gt;</a:t>
            </a:r>
          </a:p>
          <a:p>
            <a:pPr>
              <a:spcAft>
                <a:spcPts val="519"/>
              </a:spcAft>
              <a:defRPr sz="1300" b="0">
                <a:solidFill>
                  <a:srgbClr val="B0BCD0"/>
                </a:solidFill>
                <a:latin typeface="Segoe UI"/>
              </a:defRPr>
            </a:pPr>
            <a:r>
              <a:t>Contact:            &lt;email@example.com&gt;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926080"/>
            <a:ext cx="4846320" cy="32004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310896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1">
                <a:solidFill>
                  <a:srgbClr val="0096FF"/>
                </a:solidFill>
                <a:latin typeface="Segoe UI"/>
              </a:defRPr>
            </a:pPr>
            <a:r>
              <a:t>APPROACH AT A GLANCE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🧠  NAFNet-Tiny — Single backbone restoration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🎯  XGBoost — Defect-aware loss weighting &amp; QC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📐  Non-GAN pixel-fidelity losses only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🔬  Physics-based synthetic degradation pipeline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⚡  &lt;3ms inference per 256×256 image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✅  Post-hoc QC verifier for defect preservation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286000" cy="320040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AI-Based Restoration of Degraded Images for Semiconductor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22860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 b="1">
                <a:solidFill>
                  <a:srgbClr val="00E676"/>
                </a:solidFill>
                <a:latin typeface="Segoe UI"/>
              </a:defRPr>
            </a:pPr>
            <a:r>
              <a:t>Why This Problem Matters</a:t>
            </a:r>
          </a:p>
          <a:p>
            <a:pPr>
              <a:spcAft>
                <a:spcPts val="559"/>
              </a:spcAft>
              <a:defRPr sz="1400" b="0">
                <a:solidFill>
                  <a:srgbClr val="B0BCD0"/>
                </a:solidFill>
                <a:latin typeface="Segoe UI"/>
              </a:defRPr>
            </a:pPr>
            <a:r>
              <a:t>Semiconductor fabrication operates at nanometer scales where even a single undetected particle, scratch, or void</a:t>
            </a:r>
          </a:p>
          <a:p>
            <a:pPr>
              <a:spcAft>
                <a:spcPts val="559"/>
              </a:spcAft>
              <a:defRPr sz="1400" b="0">
                <a:solidFill>
                  <a:srgbClr val="B0BCD0"/>
                </a:solidFill>
                <a:latin typeface="Segoe UI"/>
              </a:defRPr>
            </a:pPr>
            <a:r>
              <a:t>can cause chip failure. Modern fabs inspect billions of die per year — image quality directly determines yield.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29184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1">
                <a:solidFill>
                  <a:srgbClr val="FFA000"/>
                </a:solidFill>
                <a:latin typeface="Segoe UI"/>
              </a:defRPr>
            </a:pPr>
            <a:r>
              <a:t>⚡ SPECKLE NOISE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B0BCD0"/>
                </a:solidFill>
                <a:latin typeface="Segoe UI"/>
              </a:defRPr>
            </a:pPr>
            <a:r>
              <a:t>Multiplicative noise from coherent</a:t>
            </a:r>
          </a:p>
          <a:p>
            <a:pPr>
              <a:spcAft>
                <a:spcPts val="479"/>
              </a:spcAft>
              <a:defRPr sz="1200" b="0">
                <a:solidFill>
                  <a:srgbClr val="B0BCD0"/>
                </a:solidFill>
                <a:latin typeface="Segoe UI"/>
              </a:defRPr>
            </a:pPr>
            <a:r>
              <a:t>laser illumination in optical wafer</a:t>
            </a:r>
          </a:p>
          <a:p>
            <a:pPr>
              <a:spcAft>
                <a:spcPts val="479"/>
              </a:spcAft>
              <a:defRPr sz="1200" b="0">
                <a:solidFill>
                  <a:srgbClr val="B0BCD0"/>
                </a:solidFill>
                <a:latin typeface="Segoe UI"/>
              </a:defRPr>
            </a:pPr>
            <a:r>
              <a:t>inspection (darkfield/brightfield).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A000"/>
                </a:solidFill>
                <a:latin typeface="Segoe UI"/>
              </a:defRPr>
            </a:pPr>
            <a:r>
              <a:t>I(x,y) = I_clean(x,y) · η(x,y)</a:t>
            </a:r>
          </a:p>
          <a:p>
            <a:pPr>
              <a:spcAft>
                <a:spcPts val="439"/>
              </a:spcAft>
              <a:defRPr sz="1100" b="0">
                <a:solidFill>
                  <a:srgbClr val="FFA000"/>
                </a:solidFill>
                <a:latin typeface="Segoe UI"/>
              </a:defRPr>
            </a:pPr>
            <a:r>
              <a:t>where η ~ Gamma(L, 1/L)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Impact: Obscures sub-100nm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particles and edge defects.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657600"/>
            <a:ext cx="329184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79476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1">
                <a:solidFill>
                  <a:srgbClr val="0096FF"/>
                </a:solidFill>
                <a:latin typeface="Segoe UI"/>
              </a:defRPr>
            </a:pPr>
            <a:r>
              <a:t>📊 GAUSSIAN + POISSON NOISE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B0BCD0"/>
                </a:solidFill>
                <a:latin typeface="Segoe UI"/>
              </a:defRPr>
            </a:pPr>
            <a:r>
              <a:t>Additive readout noise (detector</a:t>
            </a:r>
          </a:p>
          <a:p>
            <a:pPr>
              <a:spcAft>
                <a:spcPts val="479"/>
              </a:spcAft>
              <a:defRPr sz="1200" b="0">
                <a:solidFill>
                  <a:srgbClr val="B0BCD0"/>
                </a:solidFill>
                <a:latin typeface="Segoe UI"/>
              </a:defRPr>
            </a:pPr>
            <a:r>
              <a:t>thermal) + Poisson shot noise</a:t>
            </a:r>
          </a:p>
          <a:p>
            <a:pPr>
              <a:spcAft>
                <a:spcPts val="479"/>
              </a:spcAft>
              <a:defRPr sz="1200" b="0">
                <a:solidFill>
                  <a:srgbClr val="B0BCD0"/>
                </a:solidFill>
                <a:latin typeface="Segoe UI"/>
              </a:defRPr>
            </a:pPr>
            <a:r>
              <a:t>from low electron dose in SEM.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0096FF"/>
                </a:solidFill>
                <a:latin typeface="Segoe UI"/>
              </a:defRPr>
            </a:pPr>
            <a:r>
              <a:t>Low-dose SEM: dose ∈ [15, 80]</a:t>
            </a:r>
          </a:p>
          <a:p>
            <a:pPr>
              <a:spcAft>
                <a:spcPts val="439"/>
              </a:spcAft>
              <a:defRPr sz="1100" b="0">
                <a:solidFill>
                  <a:srgbClr val="0096FF"/>
                </a:solidFill>
                <a:latin typeface="Segoe UI"/>
              </a:defRPr>
            </a:pPr>
            <a:r>
              <a:t>Readout: σ ∈ [0.01, 0.08]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Impact: Degrades CD-SEM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metrology accuracy (LER/LWR).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657600"/>
            <a:ext cx="329184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794760"/>
            <a:ext cx="2743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🔍 LOW RESOLUTION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B0BCD0"/>
                </a:solidFill>
                <a:latin typeface="Segoe UI"/>
              </a:defRPr>
            </a:pPr>
            <a:r>
              <a:t>Pixel binning, low magnification,</a:t>
            </a:r>
          </a:p>
          <a:p>
            <a:pPr>
              <a:spcAft>
                <a:spcPts val="479"/>
              </a:spcAft>
              <a:defRPr sz="1200" b="0">
                <a:solidFill>
                  <a:srgbClr val="B0BCD0"/>
                </a:solidFill>
                <a:latin typeface="Segoe UI"/>
              </a:defRPr>
            </a:pPr>
            <a:r>
              <a:t>and diffraction-limited optics</a:t>
            </a:r>
          </a:p>
          <a:p>
            <a:pPr>
              <a:spcAft>
                <a:spcPts val="479"/>
              </a:spcAft>
              <a:defRPr sz="1200" b="0">
                <a:solidFill>
                  <a:srgbClr val="B0BCD0"/>
                </a:solidFill>
                <a:latin typeface="Segoe UI"/>
              </a:defRPr>
            </a:pPr>
            <a:r>
              <a:t>reduce spatial resolution.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00E676"/>
                </a:solidFill>
                <a:latin typeface="Segoe UI"/>
              </a:defRPr>
            </a:pPr>
            <a:r>
              <a:t>Defocus PSF + 2× downsampling</a:t>
            </a:r>
          </a:p>
          <a:p>
            <a:pPr>
              <a:spcAft>
                <a:spcPts val="439"/>
              </a:spcAft>
              <a:defRPr sz="1100" b="0">
                <a:solidFill>
                  <a:srgbClr val="00E676"/>
                </a:solidFill>
                <a:latin typeface="Segoe UI"/>
              </a:defRPr>
            </a:pPr>
            <a:r>
              <a:t>+ optical transfer function blur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Impact: Merges adjacent defects,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loses critical dimension detail.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>
              <a:gd name="adj" fmla="val 1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A0F1A"/>
                </a:solidFill>
                <a:latin typeface="Segoe UI"/>
              </a:defRPr>
            </a:pPr>
            <a:r>
              <a:t>IDEA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Single-Backbone Restoration with Defect-Aware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286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1">
                <a:solidFill>
                  <a:srgbClr val="00E676"/>
                </a:solidFill>
                <a:latin typeface="Segoe UI"/>
              </a:defRPr>
            </a:pPr>
            <a:r>
              <a:t>Core Insight:</a:t>
            </a:r>
          </a:p>
          <a:p>
            <a:pPr>
              <a:spcAft>
                <a:spcPts val="559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One fine-tuned backbone (NAFNet) handles ALL degradations jointly — noise, blur, and downsampling trained</a:t>
            </a:r>
          </a:p>
          <a:p>
            <a:pPr>
              <a:spcAft>
                <a:spcPts val="559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end-to-end together. A cheap XGBoost classifier provides a second interpretable signal specifically watching</a:t>
            </a:r>
          </a:p>
          <a:p>
            <a:pPr>
              <a:spcAft>
                <a:spcPts val="559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for the failure mode we care about most: defects being 'cleaned away' during restoration.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303520" cy="29260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1">
                <a:solidFill>
                  <a:srgbClr val="00E676"/>
                </a:solidFill>
                <a:latin typeface="Segoe UI"/>
              </a:defRPr>
            </a:pPr>
            <a:r>
              <a:t>WHY NAFNet?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✓  No nonlinear activations → SimpleGate replaces ReLU/GELU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✓  Pure ConvNet → 4-6× faster than SwinIR Transformer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✓  UNet encoder-decoder with skip connections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✓  &lt;3ms inference, trains in ~15 min on 1 GPU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✓  No GAN → zero hallucination risk for defect fidelity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✓  Global residual: output = f(x) + x → identity baseline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✓  Trivial ONNX/TensorRT export for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029200" cy="29260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611880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9"/>
              </a:spcAft>
              <a:defRPr sz="1600" b="1">
                <a:solidFill>
                  <a:srgbClr val="0096FF"/>
                </a:solidFill>
                <a:latin typeface="Segoe UI"/>
              </a:defRPr>
            </a:pPr>
            <a:r>
              <a:t>ADDRESSING ALL 3 DEGRADATIONS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19"/>
              </a:spcAft>
              <a:defRPr sz="1300" b="1">
                <a:solidFill>
                  <a:srgbClr val="FFA000"/>
                </a:solidFill>
                <a:latin typeface="Segoe UI"/>
              </a:defRPr>
            </a:pPr>
            <a:r>
              <a:t>Joint End-to-End Training: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Degraded LR input → NAFNet → Clean HR output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1. Speckle: Learned via Gamma noise in training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  pipeline, outperforms hand-tuned SRAD/Lee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2. Gaussian + Poisson: Mixed noise model in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  synthetic degradation matches SEM physics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3. Super-Resolution: PixelShuffle head for 2×</a:t>
            </a:r>
          </a:p>
          <a:p>
            <a:pPr>
              <a:spcAft>
                <a:spcPts val="519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    upscaling after denoising in LR domain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286000" cy="320040"/>
          </a:xfrm>
          <a:prstGeom prst="roundRect">
            <a:avLst>
              <a:gd name="adj" fmla="val 15000"/>
            </a:avLst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A0F1A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End-to-End Pipeline: Restore → Detect →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RESTORATION PIPELINE (TRAINING &amp; INFERENCE)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Degraded Input</a:t>
            </a:r>
          </a:p>
          <a:p>
            <a:pPr algn="ctr">
              <a:defRPr sz="900">
                <a:solidFill>
                  <a:srgbClr val="DDDDDD"/>
                </a:solidFill>
                <a:latin typeface="Segoe UI"/>
              </a:defRPr>
            </a:pPr>
            <a:r>
              <a:t>(Noisy + LR Grayscale)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55448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55448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Optional SRAD/Lee</a:t>
            </a:r>
          </a:p>
          <a:p>
            <a:pPr algn="ctr">
              <a:defRPr sz="900">
                <a:solidFill>
                  <a:srgbClr val="DDDDDD"/>
                </a:solidFill>
                <a:latin typeface="Segoe UI"/>
              </a:defRPr>
            </a:pPr>
            <a:r>
              <a:t>(Toggleable Preproc)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55448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5448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F1A"/>
                </a:solidFill>
                <a:latin typeface="Segoe UI"/>
              </a:defRPr>
            </a:pPr>
            <a:r>
              <a:t>NAFNet-Tiny Backbone</a:t>
            </a:r>
          </a:p>
          <a:p>
            <a:pPr algn="ctr">
              <a:defRPr sz="900">
                <a:solidFill>
                  <a:srgbClr val="0A0F1A"/>
                </a:solidFill>
                <a:latin typeface="Segoe UI"/>
              </a:defRPr>
            </a:pPr>
            <a:r>
              <a:t>(Joint Denoise + 2× SR)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55448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55448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008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Restored Output</a:t>
            </a:r>
          </a:p>
          <a:p>
            <a:pPr algn="ctr">
              <a:defRPr sz="900">
                <a:solidFill>
                  <a:srgbClr val="DDDDDD"/>
                </a:solidFill>
                <a:latin typeface="Segoe UI"/>
              </a:defRPr>
            </a:pPr>
            <a:r>
              <a:t>(Clean HR)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55448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011680" cy="594360"/>
          </a:xfrm>
          <a:prstGeom prst="roundRect">
            <a:avLst>
              <a:gd name="adj" fmla="val 8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QC Verifier</a:t>
            </a:r>
          </a:p>
          <a:p>
            <a:pPr algn="ctr">
              <a:defRPr sz="900">
                <a:solidFill>
                  <a:srgbClr val="DDDDDD"/>
                </a:solidFill>
                <a:latin typeface="Segoe UI"/>
              </a:defRPr>
            </a:pPr>
            <a:r>
              <a:t>(Defect Preservation Check)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000"/>
                </a:solidFill>
                <a:latin typeface="Segoe UI"/>
              </a:defRPr>
            </a:pPr>
            <a:r>
              <a:t>DEFECT DETECTION PATHWAY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1645920" cy="594360"/>
          </a:xfrm>
          <a:prstGeom prst="roundRect">
            <a:avLst>
              <a:gd name="adj" fmla="val 8000"/>
            </a:avLst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Image Patches</a:t>
            </a:r>
          </a:p>
          <a:p>
            <a:pPr algn="ctr">
              <a:defRPr sz="900">
                <a:solidFill>
                  <a:srgbClr val="DDDDDD"/>
                </a:solidFill>
                <a:latin typeface="Segoe UI"/>
              </a:defRPr>
            </a:pPr>
            <a:r>
              <a:t>(32×32, stride 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9184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291840"/>
            <a:ext cx="2011680" cy="59436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Feature Extractor</a:t>
            </a:r>
          </a:p>
          <a:p>
            <a:pPr algn="ctr">
              <a:defRPr sz="900">
                <a:solidFill>
                  <a:srgbClr val="DDDDDD"/>
                </a:solidFill>
                <a:latin typeface="Segoe UI"/>
              </a:defRPr>
            </a:pPr>
            <a:r>
              <a:t>(GLCM, LBP, Gabor, FFT)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29184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29184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XGBoost Classifier</a:t>
            </a:r>
          </a:p>
          <a:p>
            <a:pPr algn="ctr">
              <a:defRPr sz="900">
                <a:solidFill>
                  <a:srgbClr val="DDDDDD"/>
                </a:solidFill>
                <a:latin typeface="Segoe UI"/>
              </a:defRPr>
            </a:pPr>
            <a:r>
              <a:t>(Binary: Defect/Normal)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291840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3291840"/>
            <a:ext cx="2011680" cy="594360"/>
          </a:xfrm>
          <a:prstGeom prst="roundRect">
            <a:avLst>
              <a:gd name="adj" fmla="val 8000"/>
            </a:avLst>
          </a:prstGeom>
          <a:solidFill>
            <a:srgbClr val="B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Defect Prob Map</a:t>
            </a:r>
          </a:p>
          <a:p>
            <a:pPr algn="ctr">
              <a:defRPr sz="900">
                <a:solidFill>
                  <a:srgbClr val="DDDDDD"/>
                </a:solidFill>
                <a:latin typeface="Segoe UI"/>
              </a:defRPr>
            </a:pPr>
            <a:r>
              <a:t>(P_defect(x,y) ∈ [0,1])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A000"/>
                </a:solidFill>
                <a:latin typeface="Segoe UI"/>
              </a:defRPr>
            </a:pPr>
            <a:r>
              <a:t>↑ Training:</a:t>
            </a:r>
            <a:br/>
            <a:r>
              <a:t>Spatial loss weights</a:t>
            </a:r>
            <a:br/>
            <a:r>
              <a:t>W = 1 + α·P^β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402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6FF"/>
                </a:solidFill>
                <a:latin typeface="Segoe UI"/>
              </a:defRPr>
            </a:pPr>
            <a:r>
              <a:t>↑ Inference:</a:t>
            </a:r>
            <a:br/>
            <a:r>
              <a:t>Defect ROIs for</a:t>
            </a:r>
            <a:br/>
            <a:r>
              <a:t>QC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66FF"/>
                </a:solidFill>
                <a:latin typeface="Segoe UI"/>
              </a:defRPr>
            </a:pPr>
            <a:r>
              <a:t>MODEL ARCHITECTURE &amp; LOSS 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3840480" cy="14630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NAFNet-Tiny Config: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width=16, enc=[1,1,1,2], mid=1, dec=[1,1,1,1]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img_channel=1 (grayscale), ~0.48M params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Blocks: LayerNorm → DWConv → SimpleGate → SCA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SR Head: Conv → PixelShuffle(2) → Conv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029200"/>
            <a:ext cx="3657600" cy="14630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51206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1">
                <a:solidFill>
                  <a:srgbClr val="FFA000"/>
                </a:solidFill>
                <a:latin typeface="Segoe UI"/>
              </a:defRPr>
            </a:pPr>
            <a:r>
              <a:t>Composite Loss (No GAN):</a:t>
            </a:r>
          </a:p>
          <a:p>
            <a:pPr>
              <a:spcAft>
                <a:spcPts val="399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L = L_Charb + 0.1·L_FFT + 0.05·L_SSIM</a:t>
            </a:r>
          </a:p>
          <a:p>
            <a:pPr>
              <a:spcAft>
                <a:spcPts val="399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  <a:r>
              <a:t>        + L_DefectAware(W · |pred-target|)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Charbonnier: √((x-y)² + ε²), ε=1e-3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FFT: ||F(x) - F(y)||₁ → edge fidelity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W(x,y) = 1 + 15·P_defect(x,y)^1.5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5029200"/>
            <a:ext cx="3200400" cy="14630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512064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200" b="1">
                <a:solidFill>
                  <a:srgbClr val="0096FF"/>
                </a:solidFill>
                <a:latin typeface="Segoe UI"/>
              </a:defRPr>
            </a:pPr>
            <a:r>
              <a:t>Training Strategy: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Phase 0: Train XGBoost (~2 min)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Phase 1: Train NAFNet (~15 min)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Optimizer: AdamW, lr=1e-3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Scheduler: Cosine annealing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Patches: 128×128, batch=8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>
              <a:gd name="adj" fmla="val 15000"/>
            </a:avLst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INNOVATION &amp;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Sets Our Approach Apart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286000" cy="38100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1">
                <a:solidFill>
                  <a:srgbClr val="00E676"/>
                </a:solidFill>
                <a:latin typeface="Segoe UI"/>
              </a:defRPr>
            </a:pPr>
            <a:r>
              <a:t>1. DEFECT-AWARE SPATIAL LOSS WEIGHTING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Novel: XGBoost defect probabilities create a spatial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weight map that forces the restoration network to be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extra careful in defect regions during training.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00E676"/>
                </a:solidFill>
                <a:latin typeface="Segoe UI"/>
              </a:defRPr>
            </a:pPr>
            <a:r>
              <a:t>W(x,y) = 1.0 + α · [P_defect(x,y)]^β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Defect pixels get 15× higher loss weight than background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20640" cy="2103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1">
                <a:solidFill>
                  <a:srgbClr val="0096FF"/>
                </a:solidFill>
                <a:latin typeface="Segoe UI"/>
              </a:defRPr>
            </a:pPr>
            <a:r>
              <a:t>2. POST-HOC QC VERIFIER (NOT A 2ND MODEL)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Lightweight discrepancy check — not a second full model.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Computes metrics ONLY over defect-flagged regions: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Local SSIM on defect patches (threshold ≥ 0.82)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Weber Contrast Preservation ρ ∈ [0.75, 1.30]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Edge Preservation Index (EPI ≥ 0.70)</a:t>
            </a:r>
          </a:p>
          <a:p>
            <a:pPr>
              <a:spcAft>
                <a:spcPts val="439"/>
              </a:spcAft>
              <a:defRPr sz="1100" b="0">
                <a:solidFill>
                  <a:srgbClr val="0096FF"/>
                </a:solidFill>
                <a:latin typeface="Segoe UI"/>
              </a:defRPr>
            </a:pPr>
            <a:r>
              <a:t>Flags images where defects were 'cleaned away'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5120640" cy="2103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1">
                <a:solidFill>
                  <a:srgbClr val="FFA000"/>
                </a:solidFill>
                <a:latin typeface="Segoe UI"/>
              </a:defRPr>
            </a:pPr>
            <a:r>
              <a:t>3. PHYSICS-BASED SYNTHETIC DEGRADATION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Not random noise — models real sensor physics: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Poisson shot noise (electron dose statistics)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Gaussian readout (detector thermal noise)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Gamma speckle (coherent laser interference)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Defocus PSF + stage drift blur + downsampling</a:t>
            </a:r>
          </a:p>
          <a:p>
            <a:pPr>
              <a:spcAft>
                <a:spcPts val="439"/>
              </a:spcAft>
              <a:defRPr sz="1100" b="0">
                <a:solidFill>
                  <a:srgbClr val="FFA000"/>
                </a:solidFill>
                <a:latin typeface="Segoe UI"/>
              </a:defRPr>
            </a:pPr>
            <a:r>
              <a:t>Eliminates need for paired hardware-captured datasets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389120"/>
            <a:ext cx="5120640" cy="2103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CC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52628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1">
                <a:solidFill>
                  <a:srgbClr val="CC66FF"/>
                </a:solidFill>
                <a:latin typeface="Segoe UI"/>
              </a:defRPr>
            </a:pPr>
            <a:r>
              <a:t>4. ZERO-HALLUCINATION FAST INFERENCE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Non-GAN pixel-fidelity losses → no hallucinated defects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SimpleGate replaces all activations → fewer FLOPs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Single model, no cascaded errors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&lt;3ms GPU / &lt;20ms CPU per 256×256 image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• Direct ONNX export, no custom operators</a:t>
            </a:r>
          </a:p>
          <a:p>
            <a:pPr>
              <a:spcAft>
                <a:spcPts val="439"/>
              </a:spcAft>
              <a:defRPr sz="1100" b="0">
                <a:solidFill>
                  <a:srgbClr val="CC66FF"/>
                </a:solidFill>
                <a:latin typeface="Segoe UI"/>
              </a:defRPr>
            </a:pPr>
            <a:r>
              <a:t>Production-ready for inline wafer inspection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371600" cy="320040"/>
          </a:xfrm>
          <a:prstGeom prst="roundRect">
            <a:avLst>
              <a:gd name="adj" fmla="val 1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A0F1A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Quantitative &amp; Qualitative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6858000" cy="2743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Segoe UI"/>
              </a:defRPr>
            </a:pPr>
            <a:r>
              <a:t>GLOBAL RESTORATION METRICS (Test Set)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6217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584"/>
                <a:gridCol w="1243584"/>
                <a:gridCol w="1243584"/>
                <a:gridCol w="1243584"/>
                <a:gridCol w="1243584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0F1A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0F1A"/>
                          </a:solidFill>
                          <a:latin typeface="Segoe UI"/>
                        </a:defRPr>
                      </a:pPr>
                      <a:r>
                        <a:t>PSNR ↑</a:t>
                      </a:r>
                    </a:p>
                  </a:txBody>
                  <a:tcPr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0F1A"/>
                          </a:solidFill>
                          <a:latin typeface="Segoe UI"/>
                        </a:defRPr>
                      </a:pPr>
                      <a:r>
                        <a:t>SSIM ↑</a:t>
                      </a:r>
                    </a:p>
                  </a:txBody>
                  <a:tcPr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0F1A"/>
                          </a:solidFill>
                          <a:latin typeface="Segoe UI"/>
                        </a:defRPr>
                      </a:pPr>
                      <a:r>
                        <a:t>LPIPS ↓</a:t>
                      </a:r>
                    </a:p>
                  </a:txBody>
                  <a:tcPr>
                    <a:solidFill>
                      <a:srgbClr val="00E6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A0F1A"/>
                          </a:solidFill>
                          <a:latin typeface="Segoe UI"/>
                        </a:defRPr>
                      </a:pPr>
                      <a:r>
                        <a:t>Time/img</a:t>
                      </a:r>
                    </a:p>
                  </a:txBody>
                  <a:tcPr>
                    <a:solidFill>
                      <a:srgbClr val="00E67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Degraded Input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Lee Filter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~5 ms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SRAD (30 iter)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~45 ms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NAFNet-Tiny (Ours)</a:t>
                      </a:r>
                    </a:p>
                  </a:txBody>
                  <a:tcPr>
                    <a:solidFill>
                      <a:srgbClr val="15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5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5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530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&lt;3 ms</a:t>
                      </a:r>
                    </a:p>
                  </a:txBody>
                  <a:tcPr>
                    <a:solidFill>
                      <a:srgbClr val="15301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480560"/>
            <a:ext cx="6858000" cy="2103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Segoe UI"/>
              </a:defRPr>
            </a:pPr>
            <a:r>
              <a:t>DEFECT PRESERVATION METRICS (XGBoost-Flagged Regions)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4937760"/>
          <a:ext cx="6217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Our Result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96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Local SSIM (defect patches)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≥ 0.82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Weber Contrast Preservation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0.75 – 1.30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Edge Preservation Index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≥ 0.70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Defect Recall (post-restore)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Δ &lt; 5%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&lt;value&gt;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0BCD0"/>
                          </a:solidFill>
                          <a:latin typeface="Segoe U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589520" y="1554480"/>
            <a:ext cx="4114800" cy="50292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6B7B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1">
                <a:solidFill>
                  <a:srgbClr val="6B7B93"/>
                </a:solidFill>
                <a:latin typeface="Segoe UI"/>
              </a:defRPr>
            </a:pPr>
            <a:r>
              <a:t>VISUAL COMPARISON</a:t>
            </a:r>
          </a:p>
          <a:p>
            <a:pPr>
              <a:spcAft>
                <a:spcPts val="399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19"/>
              </a:spcAft>
              <a:defRPr sz="1300" b="0">
                <a:solidFill>
                  <a:srgbClr val="6B7B93"/>
                </a:solidFill>
                <a:latin typeface="Segoe UI"/>
              </a:defRPr>
            </a:pPr>
            <a:r>
              <a:t>[ Insert Before/After Images ]</a:t>
            </a:r>
          </a:p>
          <a:p>
            <a:pPr>
              <a:spcAft>
                <a:spcPts val="399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FF4545"/>
                </a:solidFill>
                <a:latin typeface="Segoe UI"/>
              </a:defRPr>
            </a:pPr>
            <a:r>
              <a:t>↓ Degraded Input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(noisy + low-res)</a:t>
            </a:r>
          </a:p>
          <a:p>
            <a:pPr>
              <a:spcAft>
                <a:spcPts val="799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00E676"/>
                </a:solidFill>
                <a:latin typeface="Segoe UI"/>
              </a:defRPr>
            </a:pPr>
            <a:r>
              <a:t>↓ NAFNet Restored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(denoised + super-resolved)</a:t>
            </a:r>
          </a:p>
          <a:p>
            <a:pPr>
              <a:spcAft>
                <a:spcPts val="799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0">
                <a:solidFill>
                  <a:srgbClr val="0096FF"/>
                </a:solidFill>
                <a:latin typeface="Segoe UI"/>
              </a:defRPr>
            </a:pPr>
            <a:r>
              <a:t>↓ Ground Truth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(clean HR reference)</a:t>
            </a:r>
          </a:p>
          <a:p>
            <a:pPr>
              <a:spcAft>
                <a:spcPts val="399"/>
              </a:spcAft>
              <a:defRPr sz="10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A000"/>
                </a:solidFill>
                <a:latin typeface="Segoe UI"/>
              </a:defRPr>
            </a:pPr>
            <a:r>
              <a:t>⬛ Defect regions highlighted</a:t>
            </a:r>
          </a:p>
          <a:p>
            <a:pPr>
              <a:spcAft>
                <a:spcPts val="439"/>
              </a:spcAft>
              <a:defRPr sz="1100" b="0">
                <a:solidFill>
                  <a:srgbClr val="FFA000"/>
                </a:solidFill>
                <a:latin typeface="Segoe UI"/>
              </a:defRPr>
            </a:pPr>
            <a:r>
              <a:t>    with XGBoost overlay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743200" cy="320040"/>
          </a:xfrm>
          <a:prstGeom prst="roundRect">
            <a:avLst>
              <a:gd name="adj" fmla="val 1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TECHNOLOGY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Production-Ready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1">
                <a:solidFill>
                  <a:srgbClr val="00E676"/>
                </a:solidFill>
                <a:latin typeface="Segoe UI"/>
              </a:defRPr>
            </a:pPr>
            <a:r>
              <a:t>🧠 CORE ML STACK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Framework: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PyTorch 2.x + torchvision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Restoration Model: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NAFNet-Tiny (custom impl)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0.48M parameters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Defect Detector: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XGBoost + scikit-learn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scikit-image (features)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Losses: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Charbonnier + FFT + SSIM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+ DefectAware spatial weight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00E676"/>
                </a:solidFill>
                <a:latin typeface="Segoe UI"/>
              </a:defRPr>
            </a:pPr>
            <a:r>
              <a:t>Classical Baselines: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OpenCV (Lee, SRAD filters)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83280" cy="4389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9659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1">
                <a:solidFill>
                  <a:srgbClr val="FFA000"/>
                </a:solidFill>
                <a:latin typeface="Segoe UI"/>
              </a:defRPr>
            </a:pPr>
            <a:r>
              <a:t>⚙️ INFRASTRUCTURE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FFA000"/>
                </a:solidFill>
                <a:latin typeface="Segoe UI"/>
              </a:defRPr>
            </a:pPr>
            <a:r>
              <a:t>Training Hardware: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&lt;GPU type — e.g., T4/V100/A100&gt;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&lt;Cloud — Colab/Kaggle/AWS&gt;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FFA000"/>
                </a:solidFill>
                <a:latin typeface="Segoe UI"/>
              </a:defRPr>
            </a:pPr>
            <a:r>
              <a:t>Training Time: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XGBoost: ~2 minutes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NAFNet: ~15-30 minutes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FFA000"/>
                </a:solidFill>
                <a:latin typeface="Segoe UI"/>
              </a:defRPr>
            </a:pPr>
            <a:r>
              <a:t>Model Size: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NAFNet: ~1.9 MB (.pth)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XGBoost: ~0.5 MB (.json)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Total: &lt; 2.5 MB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FFA000"/>
                </a:solidFill>
                <a:latin typeface="Segoe UI"/>
              </a:defRPr>
            </a:pPr>
            <a:r>
              <a:t>Inference Speed: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GPU: &lt;3 ms / 256×256 img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CPU: ~20 ms / 256×256 img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383280" cy="43891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1500" b="1">
                <a:solidFill>
                  <a:srgbClr val="0096FF"/>
                </a:solidFill>
                <a:latin typeface="Segoe UI"/>
              </a:defRPr>
            </a:pPr>
            <a:r>
              <a:t>🖥️ DEMO &amp; DATA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0096FF"/>
                </a:solidFill>
                <a:latin typeface="Segoe UI"/>
              </a:defRPr>
            </a:pPr>
            <a:r>
              <a:t>Demo Interface: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Gradio Web App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Side-by-side comparison UI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0096FF"/>
                </a:solidFill>
                <a:latin typeface="Segoe UI"/>
              </a:defRPr>
            </a:pPr>
            <a:r>
              <a:t>Datasets: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MVTec AD (transistor/PCB)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+ Synthetic degradation pipeline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WM-811K (wafer maps)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0096FF"/>
                </a:solidFill>
                <a:latin typeface="Segoe UI"/>
              </a:defRPr>
            </a:pPr>
            <a:r>
              <a:t>Evaluation: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PSNR, SSIM, LPIPS (global)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Local SSIM, Weber Contrast,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EPI (defect-specific)</a:t>
            </a:r>
          </a:p>
          <a:p>
            <a:pPr>
              <a:spcAft>
                <a:spcPts val="119"/>
              </a:spcAft>
              <a:defRPr sz="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79"/>
              </a:spcAft>
              <a:defRPr sz="1200" b="1">
                <a:solidFill>
                  <a:srgbClr val="0096FF"/>
                </a:solidFill>
                <a:latin typeface="Segoe UI"/>
              </a:defRPr>
            </a:pPr>
            <a:r>
              <a:t>Export:</a:t>
            </a:r>
          </a:p>
          <a:p>
            <a:pPr>
              <a:spcAft>
                <a:spcPts val="479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ONNX Runtime compatible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828800" cy="320040"/>
          </a:xfrm>
          <a:prstGeom prst="roundRect">
            <a:avLst>
              <a:gd name="adj" fmla="val 1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A0F1A"/>
                </a:solidFill>
                <a:latin typeface="Segoe UI"/>
              </a:defRPr>
            </a:pPr>
            <a:r>
              <a:t>GITHUB &amp;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Source Code &amp;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914400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 b="1">
                <a:solidFill>
                  <a:srgbClr val="00E676"/>
                </a:solidFill>
                <a:latin typeface="Segoe UI"/>
              </a:defRPr>
            </a:pPr>
            <a:r>
              <a:t>📦 GITHUB REPOSITORY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39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https://github.com/&lt;your-username&gt;/semicon-restore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19"/>
              </a:spcAft>
              <a:defRPr sz="1300" b="0">
                <a:solidFill>
                  <a:srgbClr val="B0BCD0"/>
                </a:solidFill>
                <a:latin typeface="Segoe UI"/>
              </a:defRPr>
            </a:pPr>
            <a:r>
              <a:t>Includes: Full training code, pretrained weights, evaluation scripts,</a:t>
            </a:r>
          </a:p>
          <a:p>
            <a:pPr>
              <a:spcAft>
                <a:spcPts val="519"/>
              </a:spcAft>
              <a:defRPr sz="1300" b="0">
                <a:solidFill>
                  <a:srgbClr val="B0BCD0"/>
                </a:solidFill>
                <a:latin typeface="Segoe UI"/>
              </a:defRPr>
            </a:pPr>
            <a:r>
              <a:t>synthetic degradation pipeline, XGBoost detector, QC verifier, Gradio demo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389120"/>
            <a:ext cx="9144000" cy="18288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1800" b="1">
                <a:solidFill>
                  <a:srgbClr val="0096FF"/>
                </a:solidFill>
                <a:latin typeface="Segoe UI"/>
              </a:defRPr>
            </a:pPr>
            <a:r>
              <a:t>🎥 VIDEO DEMO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39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  <a:r>
              <a:t>https://youtu.be/&lt;your-video-id&gt;   (or Loom/Drive link)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19"/>
              </a:spcAft>
              <a:defRPr sz="1300" b="0">
                <a:solidFill>
                  <a:srgbClr val="B0BCD0"/>
                </a:solidFill>
                <a:latin typeface="Segoe UI"/>
              </a:defRPr>
            </a:pPr>
            <a:r>
              <a:t>Shows: Live Gradio demo with image upload → restoration → side-by-side</a:t>
            </a:r>
          </a:p>
          <a:p>
            <a:pPr>
              <a:spcAft>
                <a:spcPts val="519"/>
              </a:spcAft>
              <a:defRPr sz="1300" b="0">
                <a:solidFill>
                  <a:srgbClr val="B0BCD0"/>
                </a:solidFill>
                <a:latin typeface="Segoe UI"/>
              </a:defRPr>
            </a:pPr>
            <a:r>
              <a:t>comparison → defect heatmap overlay → QC dashboard with pass/flag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Research Papers, Datasets &amp;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2286000" cy="38100"/>
          </a:xfrm>
          <a:prstGeom prst="rect">
            <a:avLst/>
          </a:prstGeom>
          <a:solidFill>
            <a:srgbClr val="6B7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1">
                <a:solidFill>
                  <a:srgbClr val="00E676"/>
                </a:solidFill>
                <a:latin typeface="Segoe UI"/>
              </a:defRPr>
            </a:pPr>
            <a:r>
              <a:t>RESEARCH PAPERS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[1]  Chen et al., 'Simple Baselines for Image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    Restoration' (NAFNet), ECCV 2022</a:t>
            </a:r>
          </a:p>
          <a:p>
            <a:pPr>
              <a:spcAft>
                <a:spcPts val="79"/>
              </a:spcAft>
              <a:defRPr sz="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[2]  Liang et al., 'SwinIR: Image Restoration Using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    Swin Transformer', ICCVW 2021</a:t>
            </a:r>
          </a:p>
          <a:p>
            <a:pPr>
              <a:spcAft>
                <a:spcPts val="79"/>
              </a:spcAft>
              <a:defRPr sz="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[3]  Yu &amp; Acton, 'Speckle Reducing Anisotropic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    Diffusion', IEEE TIP 2002</a:t>
            </a:r>
          </a:p>
          <a:p>
            <a:pPr>
              <a:spcAft>
                <a:spcPts val="79"/>
              </a:spcAft>
              <a:defRPr sz="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[4]  Jiang et al., 'Focal Frequency Loss for Image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    Reconstruction and Synthesis', ICCV 2021</a:t>
            </a:r>
          </a:p>
          <a:p>
            <a:pPr>
              <a:spcAft>
                <a:spcPts val="79"/>
              </a:spcAft>
              <a:defRPr sz="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[5]  Liu et al., 'Image Inpainting with Partial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    Convolutions', ECCV 2018</a:t>
            </a:r>
          </a:p>
          <a:p>
            <a:pPr>
              <a:spcAft>
                <a:spcPts val="79"/>
              </a:spcAft>
              <a:defRPr sz="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[6]  Wang et al., 'Image Quality Assessment: From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    Error Visibility to Structural Similarity',</a:t>
            </a:r>
          </a:p>
          <a:p>
            <a:pPr>
              <a:spcAft>
                <a:spcPts val="439"/>
              </a:spcAft>
              <a:defRPr sz="1100" b="0">
                <a:solidFill>
                  <a:srgbClr val="B0BCD0"/>
                </a:solidFill>
                <a:latin typeface="Segoe UI"/>
              </a:defRPr>
            </a:pPr>
            <a:r>
              <a:t>      IEEE TIP 2004 (SSIM)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1">
                <a:solidFill>
                  <a:srgbClr val="0096FF"/>
                </a:solidFill>
                <a:latin typeface="Segoe UI"/>
              </a:defRPr>
            </a:pPr>
            <a:r>
              <a:t>DATASETS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[D1] MVTec AD — Anomaly Detection Benchmark</a:t>
            </a:r>
          </a:p>
          <a:p>
            <a:pPr>
              <a:spcAft>
                <a:spcPts val="399"/>
              </a:spcAft>
              <a:defRPr sz="1000" b="0">
                <a:solidFill>
                  <a:srgbClr val="B0BCD0"/>
                </a:solidFill>
                <a:latin typeface="Segoe UI"/>
              </a:defRPr>
            </a:pPr>
            <a:r>
              <a:t>       (Transistor, PCB, Grid subsets)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[D2] WM-811K — 811K Real Wafer Maps (NTU)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[D3] DeepPCB — 1500 PCB Defect Image Pairs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[D4] SEM-i-CON — SEM Wafer Die Images</a:t>
            </a:r>
          </a:p>
          <a:p>
            <a:pPr>
              <a:spcAft>
                <a:spcPts val="239"/>
              </a:spcAft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59"/>
              </a:spcAft>
              <a:defRPr sz="1400" b="1">
                <a:solidFill>
                  <a:srgbClr val="FFA000"/>
                </a:solidFill>
                <a:latin typeface="Segoe UI"/>
              </a:defRPr>
            </a:pPr>
            <a:r>
              <a:t>TOOLS &amp; LIBRARIES</a:t>
            </a:r>
          </a:p>
          <a:p>
            <a:pPr>
              <a:spcAft>
                <a:spcPts val="159"/>
              </a:spcAft>
              <a:defRPr sz="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• PyTorch 2.x — Deep learning framework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• XGBoost — Gradient boosted classifier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• scikit-image — Feature extraction (GLCM, LBP)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• OpenCV — Classical filters, image I/O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• Gradio — Interactive web demo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• ONNX Runtime — Optimized inference</a:t>
            </a:r>
          </a:p>
          <a:p>
            <a:pPr>
              <a:spcAft>
                <a:spcPts val="439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• NumPy / SciPy — Numerical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